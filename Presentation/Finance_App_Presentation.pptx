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>
        <p:scale>
          <a:sx n="105" d="100"/>
          <a:sy n="105" d="100"/>
        </p:scale>
        <p:origin x="76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08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Screenshots are from the user’s local Streamlit app.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describes the user-built app features and logic.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Definitions reflect the implemented logic in the user’s code (aggregations.py and anomaly_detection.py).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Diagram describes the user-built components and data flow.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Screenshot from the user’s app (Tab 1 KPI dashboard).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Screenshot from the user’s app (variance waterfall chart).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Screenshots from the user’s app (MoM chart + anomaly summary table).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Sample reflects the app’s prompt design and typical outputs from user testing.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Screenshot contains stakeholder notes provided by the user.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Demo script is derived from the app’s tab structure and workflow.
[/Sources]
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4f28d99-67b1-479a-8e19-2ce3f3b0d51f.png"/>
          <p:cNvPicPr>
            <a:picLocks noChangeAspect="1"/>
          </p:cNvPicPr>
          <p:nvPr/>
        </p:nvPicPr>
        <p:blipFill>
          <a:blip r:embed="rId3"/>
          <a:srcRect l="2649" r="2649"/>
          <a:stretch/>
        </p:blipFill>
        <p:spPr>
          <a:xfrm>
            <a:off x="0" y="0"/>
            <a:ext cx="12191695" cy="71557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BMW Plant Finance Cost Control Dashboard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3232" y="12984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Forecast • MoM anomaly workflow • Executive AI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232" y="1783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Case study (EUR-only dataset)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Dashboard?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Make monthly cost steering faster, clearer, and auditable without living in Excel.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440680" cy="3251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Key Benefits 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2743199"/>
            <a:ext cx="4754880" cy="2275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2057400"/>
            <a:ext cx="5166360" cy="3251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2084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app delivers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90360" y="2818973"/>
            <a:ext cx="4572000" cy="2305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dashboard: totals, variance, risk months, top cost driver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compliance: Actual vs Forecast + variance bridge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anomaly signals + review status, reasons, notes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summary for executives (guardrails + short format)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5EB668BD-071B-1CD0-4BEB-EB9B5C90B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391" y="2743199"/>
            <a:ext cx="481584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</a:rPr>
              <a:t>One place to answer the finance close questions fast: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i="1" dirty="0">
                <a:solidFill>
                  <a:schemeClr val="bg1"/>
                </a:solidFill>
              </a:rPr>
              <a:t>Are we on plan? What changed? Why? What do we do next?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Replaces manual Excel hunting:</a:t>
            </a:r>
            <a:r>
              <a:rPr lang="en-US" sz="1400" dirty="0">
                <a:solidFill>
                  <a:schemeClr val="bg1"/>
                </a:solidFill>
              </a:rPr>
              <a:t> instead of scanning rows, the dashboard </a:t>
            </a:r>
            <a:r>
              <a:rPr lang="en-US" sz="1400" b="1" dirty="0">
                <a:solidFill>
                  <a:schemeClr val="bg1"/>
                </a:solidFill>
              </a:rPr>
              <a:t>summarizes totals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Focuses attention on what matters:</a:t>
            </a:r>
            <a:r>
              <a:rPr lang="en-US" sz="1400" dirty="0">
                <a:solidFill>
                  <a:schemeClr val="bg1"/>
                </a:solidFill>
              </a:rPr>
              <a:t> flags </a:t>
            </a:r>
            <a:r>
              <a:rPr lang="en-US" sz="1400" b="1" dirty="0">
                <a:solidFill>
                  <a:schemeClr val="bg1"/>
                </a:solidFill>
              </a:rPr>
              <a:t>big MoM spikes/drops</a:t>
            </a:r>
            <a:r>
              <a:rPr lang="en-US" sz="1400" dirty="0">
                <a:solidFill>
                  <a:schemeClr val="bg1"/>
                </a:solidFill>
              </a:rPr>
              <a:t> so you review only the months that need investigation.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</a:rPr>
              <a:t>Turns analysis into action:</a:t>
            </a:r>
            <a:r>
              <a:rPr lang="en-US" sz="1400" dirty="0">
                <a:solidFill>
                  <a:schemeClr val="bg1"/>
                </a:solidFill>
              </a:rPr>
              <a:t> ends with </a:t>
            </a:r>
            <a:r>
              <a:rPr lang="en-US" sz="1400" b="1" dirty="0">
                <a:solidFill>
                  <a:schemeClr val="bg1"/>
                </a:solidFill>
              </a:rPr>
              <a:t>prioritized risks + suggested next checks</a:t>
            </a:r>
            <a:r>
              <a:rPr lang="en-US" sz="1400" dirty="0">
                <a:solidFill>
                  <a:schemeClr val="bg1"/>
                </a:solidFill>
              </a:rPr>
              <a:t>, so it supports decisions, not just reporting.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F6BA173B-BF77-F624-ECF1-D6D0D8662455}"/>
              </a:ext>
            </a:extLst>
          </p:cNvPr>
          <p:cNvSpPr/>
          <p:nvPr/>
        </p:nvSpPr>
        <p:spPr>
          <a:xfrm>
            <a:off x="-1" y="6346656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BEBA8D-A87A-89AB-72CD-C9381EA33F09}"/>
              </a:ext>
            </a:extLst>
          </p:cNvPr>
          <p:cNvSpPr txBox="1"/>
          <p:nvPr/>
        </p:nvSpPr>
        <p:spPr>
          <a:xfrm>
            <a:off x="2169388" y="5658351"/>
            <a:ext cx="9102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Outcome:</a:t>
            </a:r>
            <a:r>
              <a:rPr lang="en-US" sz="1600" dirty="0">
                <a:solidFill>
                  <a:schemeClr val="bg1"/>
                </a:solidFill>
              </a:rPr>
              <a:t> Less time preparing reports, more time explaining drivers and taking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chemeClr val="bg1"/>
                </a:solidFill>
              </a:rPr>
              <a:t>Detection Approach (Finance-Friendly)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Logic is rule-based and fully reproducible, enabling audit-ready outputs and consistent month-end steering.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623560" cy="4434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Approach &amp; Method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2011680"/>
            <a:ext cx="5010912" cy="4434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2286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formulas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2880360"/>
            <a:ext cx="4480560" cy="2491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Variance = Actual − Forecast (negative = under budget)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Variance % = Variance / Forecast (when Forecast ≠ 0)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MoM Change = Actual(M) − Actual(M−1)</a:t>
            </a:r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MoM Change (EUR) = Actual(M) − Actual(M−1)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A0E645BB-37F7-6A5D-6696-F9C19ED0B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91CD20B-46A8-630F-6C84-713B015A0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" y="2880360"/>
            <a:ext cx="512064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Budget compliance stays visible: Actual vs Forecast shown every month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Anomalies are driven by MoM movements in Actuals (spike/drop)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Flags are simple and explainable: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Anomaly: ≥ 50% MoM change, or ≥ 10k EUR + ≥ 25%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92E50C-E3A6-46B8-1E31-D3876C61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992" y="4542311"/>
            <a:ext cx="3182325" cy="1828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5D3739-8C58-998A-563E-507A35EC6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814" y="4450020"/>
            <a:ext cx="3239067" cy="1921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Is Structured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2940" y="12077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monthly reviews: fast scan → exceptions → explanation → action.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801368"/>
            <a:ext cx="10972800" cy="47548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1600200" cy="1051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907792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(Actual + Forecast)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96312" y="3136392"/>
            <a:ext cx="320040" cy="384048"/>
          </a:xfrm>
          <a:prstGeom prst="rightArrow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08960" y="2788920"/>
            <a:ext cx="1600200" cy="1051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0" y="2907792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Loader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(clean types)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36592" y="3136392"/>
            <a:ext cx="320040" cy="384048"/>
          </a:xfrm>
          <a:prstGeom prst="rightArrow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49240" y="2788920"/>
            <a:ext cx="1600200" cy="1051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2907792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(month / group)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76872" y="3136392"/>
            <a:ext cx="320040" cy="384048"/>
          </a:xfrm>
          <a:prstGeom prst="rightArrow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0" y="2788920"/>
            <a:ext cx="160020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0" y="2907792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(MoM thresholds)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17152" y="3136392"/>
            <a:ext cx="320040" cy="384048"/>
          </a:xfrm>
          <a:prstGeom prst="rightArrow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829800" y="2788920"/>
            <a:ext cx="1600200" cy="1051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29800" y="2907792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+ 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(summary)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exception detection (MoM spikes/drops) so you don’t hunt manually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64A7B7-1668-E419-9E32-2B332362819E}"/>
              </a:ext>
            </a:extLst>
          </p:cNvPr>
          <p:cNvSpPr txBox="1"/>
          <p:nvPr/>
        </p:nvSpPr>
        <p:spPr>
          <a:xfrm>
            <a:off x="735231" y="3953608"/>
            <a:ext cx="22302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Same granularity keys (Month + Dept + G/L) so comparisons are valid.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FAB7FF-7F0D-D906-CDFB-EEF25201CAE3}"/>
              </a:ext>
            </a:extLst>
          </p:cNvPr>
          <p:cNvSpPr txBox="1"/>
          <p:nvPr/>
        </p:nvSpPr>
        <p:spPr>
          <a:xfrm>
            <a:off x="2870159" y="3975374"/>
            <a:ext cx="20778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Cleans dates/month types and standardizes EUR-only inputs.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E45F2D-0121-6F57-E8C4-53CAA10C8D60}"/>
              </a:ext>
            </a:extLst>
          </p:cNvPr>
          <p:cNvSpPr txBox="1"/>
          <p:nvPr/>
        </p:nvSpPr>
        <p:spPr>
          <a:xfrm>
            <a:off x="5099405" y="3941504"/>
            <a:ext cx="2054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Roll-ups: month totals + group totals + month × group comparisons.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2D84DB-F898-C88C-DCFD-28151D74BEE9}"/>
              </a:ext>
            </a:extLst>
          </p:cNvPr>
          <p:cNvSpPr txBox="1"/>
          <p:nvPr/>
        </p:nvSpPr>
        <p:spPr>
          <a:xfrm>
            <a:off x="7349490" y="3957873"/>
            <a:ext cx="20802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Exceptions are based on MoM volatility in Actuals (Forecast is context only).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95ED91-C4AE-A8F1-5D85-42C9B3DCAD44}"/>
              </a:ext>
            </a:extLst>
          </p:cNvPr>
          <p:cNvSpPr txBox="1"/>
          <p:nvPr/>
        </p:nvSpPr>
        <p:spPr>
          <a:xfrm>
            <a:off x="9734874" y="3948642"/>
            <a:ext cx="17900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AI turns the top exceptions into an exec-ready narrative.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Dashboard — Cost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we on plan? What is driving cost?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137558"/>
            <a:ext cx="7498080" cy="409865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321040" y="1965960"/>
            <a:ext cx="3246120" cy="4709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549640" y="22402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Callouts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49640" y="2761488"/>
            <a:ext cx="2788920" cy="116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Totals: Actual, Forecast, Variance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Worst/Best month (variance)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months by variance %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cost driver (Actual)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0DA03F-F264-910F-EDE1-A34531D80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37558"/>
            <a:ext cx="7543800" cy="4098650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1559843-C880-FBC8-5E58-70A61080F094}"/>
              </a:ext>
            </a:extLst>
          </p:cNvPr>
          <p:cNvSpPr txBox="1"/>
          <p:nvPr/>
        </p:nvSpPr>
        <p:spPr>
          <a:xfrm>
            <a:off x="8549640" y="4651611"/>
            <a:ext cx="25517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Under budget: -100,604 EUR (-3.0%) YTD variance.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Steering-ready: worst/best month + MoM change for quick month-end review.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Focus: highlights the top cost driver to start investigation immediately.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1D508B-18EF-FA8D-E3ED-F08EA5D76699}"/>
              </a:ext>
            </a:extLst>
          </p:cNvPr>
          <p:cNvSpPr txBox="1"/>
          <p:nvPr/>
        </p:nvSpPr>
        <p:spPr>
          <a:xfrm>
            <a:off x="8549640" y="4199983"/>
            <a:ext cx="152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ptos Display" pitchFamily="34" charset="0"/>
              </a:rPr>
              <a:t>Data Analysis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Forecast &amp; Dynamic Risk Signals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chemeClr val="bg1"/>
                </a:solidFill>
              </a:rPr>
              <a:t>Highlights the months driving variance so finance can validate drivers and take action.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995160" cy="47091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35240" y="2011680"/>
            <a:ext cx="3931920" cy="4617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86384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63840" y="2697479"/>
            <a:ext cx="3474720" cy="1508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 = Actual − Forecast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= under budget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shows monthly + cumulative impact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= selected G/L group(Overtime &amp; Bonuses)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83A03C-13FD-6888-3A58-B85FE2E07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2011680"/>
            <a:ext cx="7056120" cy="46177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3685CC-0DAA-0D97-10DA-FAEC09ADC3C3}"/>
              </a:ext>
            </a:extLst>
          </p:cNvPr>
          <p:cNvSpPr txBox="1"/>
          <p:nvPr/>
        </p:nvSpPr>
        <p:spPr>
          <a:xfrm>
            <a:off x="7863840" y="4690408"/>
            <a:ext cx="34747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Holiday / peak-period effect is visible:</a:t>
            </a:r>
            <a:r>
              <a:rPr lang="en-US" sz="1200" dirty="0">
                <a:solidFill>
                  <a:schemeClr val="bg1"/>
                </a:solidFill>
              </a:rPr>
              <a:t> overspend increases show up in the later months (notably </a:t>
            </a:r>
            <a:r>
              <a:rPr lang="en-US" sz="1200" b="1" dirty="0">
                <a:solidFill>
                  <a:schemeClr val="bg1"/>
                </a:solidFill>
              </a:rPr>
              <a:t>Month 9</a:t>
            </a:r>
            <a:r>
              <a:rPr lang="en-US" sz="1200" dirty="0">
                <a:solidFill>
                  <a:schemeClr val="bg1"/>
                </a:solidFill>
              </a:rPr>
              <a:t> and </a:t>
            </a:r>
            <a:r>
              <a:rPr lang="en-US" sz="1200" b="1" dirty="0">
                <a:solidFill>
                  <a:schemeClr val="bg1"/>
                </a:solidFill>
              </a:rPr>
              <a:t>Month 12</a:t>
            </a:r>
            <a:r>
              <a:rPr lang="en-US" sz="1200" dirty="0">
                <a:solidFill>
                  <a:schemeClr val="bg1"/>
                </a:solidFill>
              </a:rPr>
              <a:t>), which fits a story of </a:t>
            </a:r>
            <a:r>
              <a:rPr lang="en-US" sz="1200" b="1" dirty="0">
                <a:solidFill>
                  <a:schemeClr val="bg1"/>
                </a:solidFill>
              </a:rPr>
              <a:t>holiday coverage / peak workload / shift fill</a:t>
            </a:r>
            <a:r>
              <a:rPr lang="en-US" sz="1200" dirty="0">
                <a:solidFill>
                  <a:schemeClr val="bg1"/>
                </a:solidFill>
              </a:rPr>
              <a:t> driving more OT payouts.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Net under budget over the year:</a:t>
            </a:r>
            <a:r>
              <a:rPr lang="en-US" sz="1200" dirty="0">
                <a:solidFill>
                  <a:schemeClr val="bg1"/>
                </a:solidFill>
              </a:rPr>
              <a:t> the cumulative bridge stays negative and ends around </a:t>
            </a:r>
            <a:r>
              <a:rPr lang="en-US" sz="1200" b="1" dirty="0">
                <a:solidFill>
                  <a:schemeClr val="bg1"/>
                </a:solidFill>
              </a:rPr>
              <a:t>~−7–8k EUR</a:t>
            </a:r>
            <a:r>
              <a:rPr lang="en-US" sz="1200" dirty="0">
                <a:solidFill>
                  <a:schemeClr val="bg1"/>
                </a:solidFill>
              </a:rPr>
              <a:t>, meaning overall </a:t>
            </a:r>
            <a:r>
              <a:rPr lang="en-US" sz="1200" b="1" dirty="0">
                <a:solidFill>
                  <a:schemeClr val="bg1"/>
                </a:solidFill>
              </a:rPr>
              <a:t>Actual &lt; Forecast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FC68E-BD60-6190-1243-853A30F20A9F}"/>
              </a:ext>
            </a:extLst>
          </p:cNvPr>
          <p:cNvSpPr txBox="1"/>
          <p:nvPr/>
        </p:nvSpPr>
        <p:spPr>
          <a:xfrm>
            <a:off x="7863840" y="4275356"/>
            <a:ext cx="106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2197A7-F496-E246-D599-8D0EC3C08BD6}"/>
              </a:ext>
            </a:extLst>
          </p:cNvPr>
          <p:cNvSpPr txBox="1"/>
          <p:nvPr/>
        </p:nvSpPr>
        <p:spPr>
          <a:xfrm>
            <a:off x="3412200" y="1966527"/>
            <a:ext cx="273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Overtime &amp; Bonuses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Review Workflow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signals trigger review with status, reason, and notes.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492240" y="1965960"/>
            <a:ext cx="5120640" cy="2722774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BD0416-BC92-42CE-67A0-B138E6FDC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5715000" cy="2851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F07F8D-E061-2DB0-618B-6A5D2E217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17225"/>
            <a:ext cx="5715000" cy="15877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2260BF-D9CF-04F9-BBDF-ED7E12EBC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65961"/>
            <a:ext cx="5138928" cy="27227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CE3D31-39E3-F734-F159-82D8437964C7}"/>
              </a:ext>
            </a:extLst>
          </p:cNvPr>
          <p:cNvSpPr txBox="1"/>
          <p:nvPr/>
        </p:nvSpPr>
        <p:spPr>
          <a:xfrm>
            <a:off x="7387203" y="4881708"/>
            <a:ext cx="39160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Multiple MoM spikes/drops indicate a volatile spend profile, consistent with invoice timing, milestone billing, or reclassification.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If the MoM change is huge but the budget variance is small, it’s mostly phasing; if both are large, it may be scope/volume or price.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CD801-49D5-71D2-E660-5C5B3C792E9A}"/>
              </a:ext>
            </a:extLst>
          </p:cNvPr>
          <p:cNvSpPr txBox="1"/>
          <p:nvPr/>
        </p:nvSpPr>
        <p:spPr>
          <a:xfrm rot="16200000">
            <a:off x="6441533" y="5217934"/>
            <a:ext cx="124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AI Finance Insights — Controlled Executive Summary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turns signals into a short executive brief—without inventing data.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760720" cy="47091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Why AI is safe + what value it adds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5303520" cy="1830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Uses</a:t>
            </a:r>
            <a:r>
              <a:rPr lang="en-US" sz="1400" dirty="0">
                <a:solidFill>
                  <a:schemeClr val="bg1"/>
                </a:solidFill>
              </a:rPr>
              <a:t> only </a:t>
            </a:r>
            <a:r>
              <a:rPr lang="en-US" sz="1400" b="1" dirty="0">
                <a:solidFill>
                  <a:schemeClr val="bg1"/>
                </a:solidFill>
              </a:rPr>
              <a:t>aggregated</a:t>
            </a:r>
            <a:r>
              <a:rPr lang="en-US" sz="1400" dirty="0">
                <a:solidFill>
                  <a:schemeClr val="bg1"/>
                </a:solidFill>
              </a:rPr>
              <a:t> outputs from the app (MoM + variance tables) </a:t>
            </a:r>
          </a:p>
          <a:p>
            <a:pPr marL="203200" indent="-203200"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Fixed format: </a:t>
            </a:r>
            <a:r>
              <a:rPr lang="en-US" sz="1400" dirty="0">
                <a:solidFill>
                  <a:schemeClr val="bg1"/>
                </a:solidFill>
              </a:rPr>
              <a:t>Risks → Action → Budget impact </a:t>
            </a:r>
          </a:p>
          <a:p>
            <a:pPr marL="203200" indent="-203200"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Hard limits: </a:t>
            </a:r>
            <a:r>
              <a:rPr lang="en-US" sz="1400" dirty="0">
                <a:solidFill>
                  <a:schemeClr val="bg1"/>
                </a:solidFill>
              </a:rPr>
              <a:t>≤130 words, consistent EUR formatting</a:t>
            </a:r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>
                <a:solidFill>
                  <a:schemeClr val="bg1"/>
                </a:solidFill>
              </a:rPr>
              <a:t>If data is missing </a:t>
            </a:r>
            <a:r>
              <a:rPr lang="en-US" sz="1400" dirty="0">
                <a:solidFill>
                  <a:schemeClr val="bg1"/>
                </a:solidFill>
              </a:rPr>
              <a:t>returns “Not enough data” (no guessing)</a:t>
            </a:r>
          </a:p>
          <a:p>
            <a:pPr marL="203200" indent="-203200">
              <a:buSzPct val="100000"/>
              <a:buFontTx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Budget context</a:t>
            </a:r>
            <a:r>
              <a:rPr lang="en-US" sz="1400" dirty="0">
                <a:solidFill>
                  <a:schemeClr val="bg1"/>
                </a:solidFill>
              </a:rPr>
              <a:t> (variance impact, not confused with MoM)</a:t>
            </a:r>
          </a:p>
          <a:p>
            <a:pPr marL="203200" indent="-203200">
              <a:buSzPct val="100000"/>
              <a:buFontTx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Source: </a:t>
            </a:r>
            <a:r>
              <a:rPr lang="en-US" sz="1400" dirty="0">
                <a:solidFill>
                  <a:schemeClr val="bg1"/>
                </a:solidFill>
              </a:rPr>
              <a:t>anomaly table + forecast comparison (shown in tabs 2–3)</a:t>
            </a:r>
          </a:p>
          <a:p>
            <a:pPr marL="203200" indent="-203200">
              <a:buSzPct val="100000"/>
              <a:buFontTx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03200" indent="-203200">
              <a:buSzPct val="10000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583680" y="1965960"/>
            <a:ext cx="5029200" cy="2630103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3720" y="2240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2651760"/>
            <a:ext cx="44805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4FE6E0-C677-DF15-8416-DBEE823BF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5047488" cy="2845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F6F2D7-95FD-E845-EE24-E9D94D70B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96063"/>
            <a:ext cx="4983480" cy="20790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CB8A12-A4BA-3ED5-9ACE-332EDE654A49}"/>
              </a:ext>
            </a:extLst>
          </p:cNvPr>
          <p:cNvSpPr txBox="1"/>
          <p:nvPr/>
        </p:nvSpPr>
        <p:spPr>
          <a:xfrm>
            <a:off x="868680" y="5012004"/>
            <a:ext cx="5303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Inputs used:</a:t>
            </a:r>
            <a:r>
              <a:rPr lang="en-US" sz="1400" dirty="0">
                <a:solidFill>
                  <a:schemeClr val="bg1"/>
                </a:solidFill>
              </a:rPr>
              <a:t> MoM movers + forecast variance (aggregated tables only)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Traceability:</a:t>
            </a:r>
            <a:r>
              <a:rPr lang="en-US" sz="1400" dirty="0">
                <a:solidFill>
                  <a:schemeClr val="bg1"/>
                </a:solidFill>
              </a:rPr>
              <a:t> each EUR value maps to a specific Month + G/L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Reproducible:</a:t>
            </a:r>
            <a:r>
              <a:rPr lang="en-US" sz="1400" dirty="0">
                <a:solidFill>
                  <a:schemeClr val="bg1"/>
                </a:solidFill>
              </a:rPr>
              <a:t> same filters → same summary (no randomness in logic)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B4C92-707E-1480-9F4F-0A8DCA8EAD7C}"/>
              </a:ext>
            </a:extLst>
          </p:cNvPr>
          <p:cNvSpPr txBox="1"/>
          <p:nvPr/>
        </p:nvSpPr>
        <p:spPr>
          <a:xfrm>
            <a:off x="960120" y="458519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 trail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chemeClr val="bg1"/>
                </a:solidFill>
              </a:rPr>
              <a:t>From Findings to Features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Controller notes translated into concrete features to improve steering, forecast quality, and cost control.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080760" cy="4270248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0" y="2011680"/>
            <a:ext cx="4709160" cy="4709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29996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Findings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86600" y="2697480"/>
            <a:ext cx="42519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Forecast allocation </a:t>
            </a:r>
            <a:r>
              <a:rPr lang="en-US" sz="1400" b="1" dirty="0">
                <a:solidFill>
                  <a:schemeClr val="bg1"/>
                </a:solidFill>
              </a:rPr>
              <a:t>G/L accounts must match</a:t>
            </a:r>
            <a:r>
              <a:rPr lang="en-US" sz="1400" dirty="0">
                <a:solidFill>
                  <a:schemeClr val="bg1"/>
                </a:solidFill>
              </a:rPr>
              <a:t> Actual G/L accounts, otherwise variances can be misleading.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IT services &amp; subscriptions should behave as fixed/contracted costs (stable pattern).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Startup costs after holidays should be planned into forecast (ramp-up effect).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Set </a:t>
            </a:r>
            <a:r>
              <a:rPr lang="en-US" sz="1400" b="1" dirty="0">
                <a:solidFill>
                  <a:schemeClr val="bg1"/>
                </a:solidFill>
              </a:rPr>
              <a:t>consumables targets</a:t>
            </a:r>
            <a:r>
              <a:rPr lang="en-US" sz="1400" dirty="0">
                <a:solidFill>
                  <a:schemeClr val="bg1"/>
                </a:solidFill>
              </a:rPr>
              <a:t> based on industry benchmarks and monitor deviations.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Reduce training costs by shifting to </a:t>
            </a:r>
            <a:r>
              <a:rPr lang="en-US" sz="1400" b="1" dirty="0">
                <a:solidFill>
                  <a:schemeClr val="bg1"/>
                </a:solidFill>
              </a:rPr>
              <a:t>AI-based internal training modules</a:t>
            </a:r>
            <a:r>
              <a:rPr lang="en-US" sz="1400" dirty="0">
                <a:solidFill>
                  <a:schemeClr val="bg1"/>
                </a:solidFill>
              </a:rPr>
              <a:t> and internal degree-style programs.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Employee cost should be more consistent, driven by salary increases + controlled 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ED52F9-C411-FD9E-BF93-FD0BA750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18134"/>
            <a:ext cx="6035040" cy="41180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09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Short Live Demo: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crisp demo path that mirrors a finance review conversation.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972800" cy="47091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21826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10332720" cy="1703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Are we on plan? (Total variance / variance %)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What’s driving it? (Top driver + bridge months) 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What changed vs last month? (MoM spike/drop) 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What’s the action? (workflow notes + AI brief)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5559552"/>
            <a:ext cx="2020147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Thank you, Questions?</a:t>
            </a:r>
          </a:p>
        </p:txBody>
      </p:sp>
      <p:sp>
        <p:nvSpPr>
          <p:cNvPr id="10" name="Text 8"/>
          <p:cNvSpPr/>
          <p:nvPr/>
        </p:nvSpPr>
        <p:spPr>
          <a:xfrm>
            <a:off x="1188720" y="59893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Rounded Rectangle 12">
            <a:hlinkClick r:id="rId3"/>
            <a:extLst>
              <a:ext uri="{FF2B5EF4-FFF2-40B4-BE49-F238E27FC236}">
                <a16:creationId xmlns:a16="http://schemas.microsoft.com/office/drawing/2014/main" id="{0DB74F86-332E-8BCE-0D41-F954293F6F68}"/>
              </a:ext>
            </a:extLst>
          </p:cNvPr>
          <p:cNvSpPr/>
          <p:nvPr/>
        </p:nvSpPr>
        <p:spPr>
          <a:xfrm>
            <a:off x="10609480" y="664534"/>
            <a:ext cx="982134" cy="1009269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  <a:alpha val="80000"/>
                </a:schemeClr>
              </a:gs>
              <a:gs pos="21000">
                <a:schemeClr val="accent1">
                  <a:lumMod val="0"/>
                  <a:lumOff val="100000"/>
                  <a:alpha val="81786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▶ Start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1288</Words>
  <Application>Microsoft Macintosh PowerPoint</Application>
  <PresentationFormat>Widescreen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Hassan Syed Asir</cp:lastModifiedBy>
  <cp:revision>6</cp:revision>
  <dcterms:created xsi:type="dcterms:W3CDTF">2026-01-07T12:05:25Z</dcterms:created>
  <dcterms:modified xsi:type="dcterms:W3CDTF">2026-01-08T15:26:00Z</dcterms:modified>
</cp:coreProperties>
</file>